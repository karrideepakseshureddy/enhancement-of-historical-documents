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7" name="Shape 107"/>
          <p:cNvSpPr/>
          <p:nvPr>
            <p:ph type="sldImg"/>
          </p:nvPr>
        </p:nvSpPr>
        <p:spPr>
          <a:xfrm>
            <a:off x="1143000" y="685800"/>
            <a:ext cx="4572000" cy="3429000"/>
          </a:xfrm>
          <a:prstGeom prst="rect">
            <a:avLst/>
          </a:prstGeom>
        </p:spPr>
        <p:txBody>
          <a:bodyPr/>
          <a:lstStyle/>
          <a:p>
            <a:pPr/>
          </a:p>
        </p:txBody>
      </p:sp>
      <p:sp>
        <p:nvSpPr>
          <p:cNvPr id="108" name="Shape 10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9"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28"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37"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46"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55"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64"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73"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82"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91"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EDEDED"/>
          </a:solidFill>
          <a:ln w="12700">
            <a:miter lim="400000"/>
          </a:ln>
        </p:spPr>
        <p:txBody>
          <a:bodyPr lIns="45719" rIns="45719"/>
          <a:lstStyle/>
          <a:p>
            <a:pPr/>
          </a:p>
        </p:txBody>
      </p:sp>
      <p:sp>
        <p:nvSpPr>
          <p:cNvPr id="100" name="Shape 1"/>
          <p:cNvSpPr/>
          <p:nvPr/>
        </p:nvSpPr>
        <p:spPr>
          <a:xfrm>
            <a:off x="0" y="0"/>
            <a:ext cx="14630400" cy="8229600"/>
          </a:xfrm>
          <a:prstGeom prst="rect">
            <a:avLst/>
          </a:prstGeom>
          <a:solidFill>
            <a:srgbClr val="FFFFFF"/>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19" y="110489"/>
            <a:ext cx="13167362"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19" y="1920239"/>
            <a:ext cx="13167362"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4"/>
            <a:ext cx="3413761" cy="438151"/>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0"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11" name="Text 0"/>
          <p:cNvSpPr txBox="1"/>
          <p:nvPr/>
        </p:nvSpPr>
        <p:spPr>
          <a:xfrm>
            <a:off x="6350198" y="1597580"/>
            <a:ext cx="7416404" cy="20843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pc="-44" sz="4400">
                <a:latin typeface="Montserrat Bold"/>
                <a:ea typeface="Montserrat Bold"/>
                <a:cs typeface="Montserrat Bold"/>
                <a:sym typeface="Montserrat Bold"/>
              </a:defRPr>
            </a:lvl1pPr>
          </a:lstStyle>
          <a:p>
            <a:pPr/>
            <a:r>
              <a:t>Enhancing Readability of Historical Manuscripts Using Image Processing</a:t>
            </a:r>
          </a:p>
        </p:txBody>
      </p:sp>
      <p:sp>
        <p:nvSpPr>
          <p:cNvPr id="112" name="Text 1"/>
          <p:cNvSpPr txBox="1"/>
          <p:nvPr/>
        </p:nvSpPr>
        <p:spPr>
          <a:xfrm>
            <a:off x="6350198" y="4071580"/>
            <a:ext cx="7416404" cy="18233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This presentation explores a comprehensive approach to enhancing the readability of historical manuscripts using image processing techniques. We'll delve into the challenges posed by degraded documents, the framework we employ to address these issues, and the metrics used to evaluate the effectiveness of our approach.</a:t>
            </a:r>
          </a:p>
        </p:txBody>
      </p:sp>
      <p:sp>
        <p:nvSpPr>
          <p:cNvPr id="113" name="Shape 2"/>
          <p:cNvSpPr/>
          <p:nvPr/>
        </p:nvSpPr>
        <p:spPr>
          <a:xfrm>
            <a:off x="6350198" y="6218515"/>
            <a:ext cx="394931" cy="394930"/>
          </a:xfrm>
          <a:prstGeom prst="roundRect">
            <a:avLst>
              <a:gd name="adj" fmla="val 50000"/>
            </a:avLst>
          </a:prstGeom>
          <a:ln w="7620">
            <a:solidFill>
              <a:srgbClr val="FFFFFF"/>
            </a:solidFill>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 0"/>
          <p:cNvSpPr txBox="1"/>
          <p:nvPr/>
        </p:nvSpPr>
        <p:spPr>
          <a:xfrm>
            <a:off x="863797" y="2490667"/>
            <a:ext cx="5010207" cy="68731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500"/>
              </a:lnSpc>
              <a:defRPr b="1" spc="-44" sz="4400">
                <a:latin typeface="Montserrat Bold"/>
                <a:ea typeface="Montserrat Bold"/>
                <a:cs typeface="Montserrat Bold"/>
                <a:sym typeface="Montserrat Bold"/>
              </a:defRPr>
            </a:lvl1pPr>
          </a:lstStyle>
          <a:p>
            <a:pPr/>
            <a:r>
              <a:t>Problem Statement</a:t>
            </a:r>
          </a:p>
        </p:txBody>
      </p:sp>
      <p:sp>
        <p:nvSpPr>
          <p:cNvPr id="116" name="Text 1"/>
          <p:cNvSpPr txBox="1"/>
          <p:nvPr/>
        </p:nvSpPr>
        <p:spPr>
          <a:xfrm>
            <a:off x="863797" y="3808927"/>
            <a:ext cx="1291649" cy="338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latin typeface="Montserrat Bold"/>
                <a:ea typeface="Montserrat Bold"/>
                <a:cs typeface="Montserrat Bold"/>
                <a:sym typeface="Montserrat Bold"/>
              </a:defRPr>
            </a:lvl1pPr>
          </a:lstStyle>
          <a:p>
            <a:pPr/>
            <a:r>
              <a:t>Faded Ink</a:t>
            </a:r>
          </a:p>
        </p:txBody>
      </p:sp>
      <p:sp>
        <p:nvSpPr>
          <p:cNvPr id="117" name="Text 2"/>
          <p:cNvSpPr txBox="1"/>
          <p:nvPr/>
        </p:nvSpPr>
        <p:spPr>
          <a:xfrm>
            <a:off x="863797" y="4406384"/>
            <a:ext cx="3898941" cy="7184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Over time, ink can fade, making it difficult to decipher text.</a:t>
            </a:r>
          </a:p>
        </p:txBody>
      </p:sp>
      <p:sp>
        <p:nvSpPr>
          <p:cNvPr id="118" name="Text 3"/>
          <p:cNvSpPr txBox="1"/>
          <p:nvPr/>
        </p:nvSpPr>
        <p:spPr>
          <a:xfrm>
            <a:off x="5372575" y="3808927"/>
            <a:ext cx="2495634" cy="338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latin typeface="Montserrat Bold"/>
                <a:ea typeface="Montserrat Bold"/>
                <a:cs typeface="Montserrat Bold"/>
                <a:sym typeface="Montserrat Bold"/>
              </a:defRPr>
            </a:lvl1pPr>
          </a:lstStyle>
          <a:p>
            <a:pPr/>
            <a:r>
              <a:t>Noise and Artifacts</a:t>
            </a:r>
          </a:p>
        </p:txBody>
      </p:sp>
      <p:sp>
        <p:nvSpPr>
          <p:cNvPr id="119" name="Text 4"/>
          <p:cNvSpPr txBox="1"/>
          <p:nvPr/>
        </p:nvSpPr>
        <p:spPr>
          <a:xfrm>
            <a:off x="5372575" y="4406384"/>
            <a:ext cx="3898941" cy="7184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Damaged paper, stains, and other imperfections can obscure the text.</a:t>
            </a:r>
          </a:p>
        </p:txBody>
      </p:sp>
      <p:sp>
        <p:nvSpPr>
          <p:cNvPr id="120" name="Text 5"/>
          <p:cNvSpPr txBox="1"/>
          <p:nvPr/>
        </p:nvSpPr>
        <p:spPr>
          <a:xfrm>
            <a:off x="9881354" y="3808927"/>
            <a:ext cx="1764168" cy="338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latin typeface="Montserrat Bold"/>
                <a:ea typeface="Montserrat Bold"/>
                <a:cs typeface="Montserrat Bold"/>
                <a:sym typeface="Montserrat Bold"/>
              </a:defRPr>
            </a:lvl1pPr>
          </a:lstStyle>
          <a:p>
            <a:pPr/>
            <a:r>
              <a:t>Low Contrast</a:t>
            </a:r>
          </a:p>
        </p:txBody>
      </p:sp>
      <p:sp>
        <p:nvSpPr>
          <p:cNvPr id="121" name="Text 6"/>
          <p:cNvSpPr txBox="1"/>
          <p:nvPr/>
        </p:nvSpPr>
        <p:spPr>
          <a:xfrm>
            <a:off x="9881354" y="4406384"/>
            <a:ext cx="3898941" cy="10867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Poor lighting conditions and variations in ink density can make it hard to distinguish characters.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ext 0"/>
          <p:cNvSpPr txBox="1"/>
          <p:nvPr/>
        </p:nvSpPr>
        <p:spPr>
          <a:xfrm>
            <a:off x="863797" y="1516855"/>
            <a:ext cx="10215090" cy="68731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500"/>
              </a:lnSpc>
              <a:defRPr b="1" spc="-44" sz="4400">
                <a:latin typeface="Montserrat Bold"/>
                <a:ea typeface="Montserrat Bold"/>
                <a:cs typeface="Montserrat Bold"/>
                <a:sym typeface="Montserrat Bold"/>
              </a:defRPr>
            </a:lvl1pPr>
          </a:lstStyle>
          <a:p>
            <a:pPr/>
            <a:r>
              <a:t>Framework: Image Processing Pipeline</a:t>
            </a:r>
          </a:p>
        </p:txBody>
      </p:sp>
      <p:sp>
        <p:nvSpPr>
          <p:cNvPr id="124" name="Shape 1"/>
          <p:cNvSpPr/>
          <p:nvPr/>
        </p:nvSpPr>
        <p:spPr>
          <a:xfrm>
            <a:off x="863797" y="2989421"/>
            <a:ext cx="555309" cy="555309"/>
          </a:xfrm>
          <a:prstGeom prst="roundRect">
            <a:avLst>
              <a:gd name="adj" fmla="val 6667"/>
            </a:avLst>
          </a:prstGeom>
          <a:solidFill>
            <a:srgbClr val="F2EEEE"/>
          </a:solidFill>
          <a:ln w="12700">
            <a:miter lim="400000"/>
          </a:ln>
        </p:spPr>
        <p:txBody>
          <a:bodyPr lIns="45719" rIns="45719"/>
          <a:lstStyle/>
          <a:p>
            <a:pPr/>
          </a:p>
        </p:txBody>
      </p:sp>
      <p:pic>
        <p:nvPicPr>
          <p:cNvPr id="125" name="Image 0" descr="Image 0"/>
          <p:cNvPicPr>
            <a:picLocks noChangeAspect="1"/>
          </p:cNvPicPr>
          <p:nvPr/>
        </p:nvPicPr>
        <p:blipFill>
          <a:blip r:embed="rId2">
            <a:extLst/>
          </a:blip>
          <a:stretch>
            <a:fillRect/>
          </a:stretch>
        </p:blipFill>
        <p:spPr>
          <a:xfrm>
            <a:off x="973216" y="3056751"/>
            <a:ext cx="336472" cy="420649"/>
          </a:xfrm>
          <a:prstGeom prst="rect">
            <a:avLst/>
          </a:prstGeom>
          <a:ln w="12700">
            <a:miter lim="400000"/>
          </a:ln>
        </p:spPr>
      </p:pic>
      <p:sp>
        <p:nvSpPr>
          <p:cNvPr id="126" name="Text 2"/>
          <p:cNvSpPr txBox="1"/>
          <p:nvPr/>
        </p:nvSpPr>
        <p:spPr>
          <a:xfrm>
            <a:off x="1665922" y="2989421"/>
            <a:ext cx="3334227" cy="6814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b="1" spc="-22" sz="2200">
                <a:solidFill>
                  <a:srgbClr val="3D3838"/>
                </a:solidFill>
                <a:latin typeface="Montserrat Bold"/>
                <a:ea typeface="Montserrat Bold"/>
                <a:cs typeface="Montserrat Bold"/>
                <a:sym typeface="Montserrat Bold"/>
              </a:defRPr>
            </a:lvl1pPr>
          </a:lstStyle>
          <a:p>
            <a:pPr/>
            <a:r>
              <a:t>Noise Reduction (Gaussian Blur)</a:t>
            </a:r>
          </a:p>
        </p:txBody>
      </p:sp>
      <p:sp>
        <p:nvSpPr>
          <p:cNvPr id="127" name="Text 3"/>
          <p:cNvSpPr txBox="1"/>
          <p:nvPr/>
        </p:nvSpPr>
        <p:spPr>
          <a:xfrm>
            <a:off x="1665922" y="3838693"/>
            <a:ext cx="3334227" cy="7184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Reduces noise and smooths out irregularities in the image.</a:t>
            </a:r>
          </a:p>
        </p:txBody>
      </p:sp>
      <p:sp>
        <p:nvSpPr>
          <p:cNvPr id="128" name="Shape 4"/>
          <p:cNvSpPr/>
          <p:nvPr/>
        </p:nvSpPr>
        <p:spPr>
          <a:xfrm>
            <a:off x="5246965" y="2989421"/>
            <a:ext cx="555309" cy="555309"/>
          </a:xfrm>
          <a:prstGeom prst="roundRect">
            <a:avLst>
              <a:gd name="adj" fmla="val 6667"/>
            </a:avLst>
          </a:prstGeom>
          <a:solidFill>
            <a:srgbClr val="F2EEEE"/>
          </a:solidFill>
          <a:ln w="12700">
            <a:miter lim="400000"/>
          </a:ln>
        </p:spPr>
        <p:txBody>
          <a:bodyPr lIns="45719" rIns="45719"/>
          <a:lstStyle/>
          <a:p>
            <a:pPr/>
          </a:p>
        </p:txBody>
      </p:sp>
      <p:pic>
        <p:nvPicPr>
          <p:cNvPr id="129" name="Image 1" descr="Image 1"/>
          <p:cNvPicPr>
            <a:picLocks noChangeAspect="1"/>
          </p:cNvPicPr>
          <p:nvPr/>
        </p:nvPicPr>
        <p:blipFill>
          <a:blip r:embed="rId3">
            <a:extLst/>
          </a:blip>
          <a:stretch>
            <a:fillRect/>
          </a:stretch>
        </p:blipFill>
        <p:spPr>
          <a:xfrm>
            <a:off x="5356383" y="3056751"/>
            <a:ext cx="336472" cy="420649"/>
          </a:xfrm>
          <a:prstGeom prst="rect">
            <a:avLst/>
          </a:prstGeom>
          <a:ln w="12700">
            <a:miter lim="400000"/>
          </a:ln>
        </p:spPr>
      </p:pic>
      <p:sp>
        <p:nvSpPr>
          <p:cNvPr id="130" name="Text 5"/>
          <p:cNvSpPr txBox="1"/>
          <p:nvPr/>
        </p:nvSpPr>
        <p:spPr>
          <a:xfrm>
            <a:off x="6049088" y="2989421"/>
            <a:ext cx="3334227" cy="6814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b="1" spc="-22" sz="2200">
                <a:solidFill>
                  <a:srgbClr val="3D3838"/>
                </a:solidFill>
                <a:latin typeface="Montserrat Bold"/>
                <a:ea typeface="Montserrat Bold"/>
                <a:cs typeface="Montserrat Bold"/>
                <a:sym typeface="Montserrat Bold"/>
              </a:defRPr>
            </a:lvl1pPr>
          </a:lstStyle>
          <a:p>
            <a:pPr/>
            <a:r>
              <a:t>Contrast Enhancement (CLAHE)</a:t>
            </a:r>
          </a:p>
        </p:txBody>
      </p:sp>
      <p:sp>
        <p:nvSpPr>
          <p:cNvPr id="131" name="Text 6"/>
          <p:cNvSpPr txBox="1"/>
          <p:nvPr/>
        </p:nvSpPr>
        <p:spPr>
          <a:xfrm>
            <a:off x="6049088" y="3838693"/>
            <a:ext cx="3334227" cy="1086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Improves overall contrast by enhancing local regions of the image.</a:t>
            </a:r>
          </a:p>
        </p:txBody>
      </p:sp>
      <p:sp>
        <p:nvSpPr>
          <p:cNvPr id="132" name="Shape 7"/>
          <p:cNvSpPr/>
          <p:nvPr/>
        </p:nvSpPr>
        <p:spPr>
          <a:xfrm>
            <a:off x="9630132" y="2989421"/>
            <a:ext cx="555309" cy="555309"/>
          </a:xfrm>
          <a:prstGeom prst="roundRect">
            <a:avLst>
              <a:gd name="adj" fmla="val 6667"/>
            </a:avLst>
          </a:prstGeom>
          <a:solidFill>
            <a:srgbClr val="F2EEEE"/>
          </a:solidFill>
          <a:ln w="12700">
            <a:miter lim="400000"/>
          </a:ln>
        </p:spPr>
        <p:txBody>
          <a:bodyPr lIns="45719" rIns="45719"/>
          <a:lstStyle/>
          <a:p>
            <a:pPr/>
          </a:p>
        </p:txBody>
      </p:sp>
      <p:pic>
        <p:nvPicPr>
          <p:cNvPr id="133" name="Image 2" descr="Image 2"/>
          <p:cNvPicPr>
            <a:picLocks noChangeAspect="1"/>
          </p:cNvPicPr>
          <p:nvPr/>
        </p:nvPicPr>
        <p:blipFill>
          <a:blip r:embed="rId4">
            <a:extLst/>
          </a:blip>
          <a:stretch>
            <a:fillRect/>
          </a:stretch>
        </p:blipFill>
        <p:spPr>
          <a:xfrm>
            <a:off x="9739551" y="3056751"/>
            <a:ext cx="336472" cy="420649"/>
          </a:xfrm>
          <a:prstGeom prst="rect">
            <a:avLst/>
          </a:prstGeom>
          <a:ln w="12700">
            <a:miter lim="400000"/>
          </a:ln>
        </p:spPr>
      </p:pic>
      <p:sp>
        <p:nvSpPr>
          <p:cNvPr id="134" name="Text 8"/>
          <p:cNvSpPr txBox="1"/>
          <p:nvPr/>
        </p:nvSpPr>
        <p:spPr>
          <a:xfrm>
            <a:off x="10432256" y="2989421"/>
            <a:ext cx="2981042"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solidFill>
                  <a:srgbClr val="3D3838"/>
                </a:solidFill>
                <a:latin typeface="Montserrat Bold"/>
                <a:ea typeface="Montserrat Bold"/>
                <a:cs typeface="Montserrat Bold"/>
                <a:sym typeface="Montserrat Bold"/>
              </a:defRPr>
            </a:lvl1pPr>
          </a:lstStyle>
          <a:p>
            <a:pPr/>
            <a:r>
              <a:t>Adaptive Thresholding</a:t>
            </a:r>
          </a:p>
        </p:txBody>
      </p:sp>
      <p:sp>
        <p:nvSpPr>
          <p:cNvPr id="135" name="Text 9"/>
          <p:cNvSpPr txBox="1"/>
          <p:nvPr/>
        </p:nvSpPr>
        <p:spPr>
          <a:xfrm>
            <a:off x="10432256" y="3488054"/>
            <a:ext cx="3334227" cy="1086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Converts the image to a binary format by applying a threshold to each pixel.</a:t>
            </a:r>
          </a:p>
        </p:txBody>
      </p:sp>
      <p:sp>
        <p:nvSpPr>
          <p:cNvPr id="136" name="Shape 10"/>
          <p:cNvSpPr/>
          <p:nvPr/>
        </p:nvSpPr>
        <p:spPr>
          <a:xfrm>
            <a:off x="863797" y="5473660"/>
            <a:ext cx="555309" cy="555309"/>
          </a:xfrm>
          <a:prstGeom prst="roundRect">
            <a:avLst>
              <a:gd name="adj" fmla="val 6667"/>
            </a:avLst>
          </a:prstGeom>
          <a:solidFill>
            <a:srgbClr val="F2EEEE"/>
          </a:solidFill>
          <a:ln w="12700">
            <a:miter lim="400000"/>
          </a:ln>
        </p:spPr>
        <p:txBody>
          <a:bodyPr lIns="45719" rIns="45719"/>
          <a:lstStyle/>
          <a:p>
            <a:pPr/>
          </a:p>
        </p:txBody>
      </p:sp>
      <p:pic>
        <p:nvPicPr>
          <p:cNvPr id="137" name="Image 3" descr="Image 3"/>
          <p:cNvPicPr>
            <a:picLocks noChangeAspect="1"/>
          </p:cNvPicPr>
          <p:nvPr/>
        </p:nvPicPr>
        <p:blipFill>
          <a:blip r:embed="rId5">
            <a:extLst/>
          </a:blip>
          <a:stretch>
            <a:fillRect/>
          </a:stretch>
        </p:blipFill>
        <p:spPr>
          <a:xfrm>
            <a:off x="973216" y="5540990"/>
            <a:ext cx="336472" cy="420649"/>
          </a:xfrm>
          <a:prstGeom prst="rect">
            <a:avLst/>
          </a:prstGeom>
          <a:ln w="12700">
            <a:miter lim="400000"/>
          </a:ln>
        </p:spPr>
      </p:pic>
      <p:sp>
        <p:nvSpPr>
          <p:cNvPr id="138" name="Text 11"/>
          <p:cNvSpPr txBox="1"/>
          <p:nvPr/>
        </p:nvSpPr>
        <p:spPr>
          <a:xfrm>
            <a:off x="1665922" y="5473660"/>
            <a:ext cx="3117812"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solidFill>
                  <a:srgbClr val="3D3838"/>
                </a:solidFill>
                <a:latin typeface="Montserrat Bold"/>
                <a:ea typeface="Montserrat Bold"/>
                <a:cs typeface="Montserrat Bold"/>
                <a:sym typeface="Montserrat Bold"/>
              </a:defRPr>
            </a:lvl1pPr>
          </a:lstStyle>
          <a:p>
            <a:pPr/>
            <a:r>
              <a:t>Morphological Cleaning</a:t>
            </a:r>
          </a:p>
        </p:txBody>
      </p:sp>
      <p:sp>
        <p:nvSpPr>
          <p:cNvPr id="139" name="Text 12"/>
          <p:cNvSpPr txBox="1"/>
          <p:nvPr/>
        </p:nvSpPr>
        <p:spPr>
          <a:xfrm>
            <a:off x="1665922" y="5972293"/>
            <a:ext cx="5525930" cy="7184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Removes small artifacts and irregularities to clean up the binary image.</a:t>
            </a:r>
          </a:p>
        </p:txBody>
      </p:sp>
      <p:sp>
        <p:nvSpPr>
          <p:cNvPr id="140" name="Shape 13"/>
          <p:cNvSpPr/>
          <p:nvPr/>
        </p:nvSpPr>
        <p:spPr>
          <a:xfrm>
            <a:off x="7438667" y="5473660"/>
            <a:ext cx="555309" cy="555309"/>
          </a:xfrm>
          <a:prstGeom prst="roundRect">
            <a:avLst>
              <a:gd name="adj" fmla="val 6667"/>
            </a:avLst>
          </a:prstGeom>
          <a:solidFill>
            <a:srgbClr val="F2EEEE"/>
          </a:solidFill>
          <a:ln w="12700">
            <a:miter lim="400000"/>
          </a:ln>
        </p:spPr>
        <p:txBody>
          <a:bodyPr lIns="45719" rIns="45719"/>
          <a:lstStyle/>
          <a:p>
            <a:pPr/>
          </a:p>
        </p:txBody>
      </p:sp>
      <p:pic>
        <p:nvPicPr>
          <p:cNvPr id="141" name="Image 4" descr="Image 4"/>
          <p:cNvPicPr>
            <a:picLocks noChangeAspect="1"/>
          </p:cNvPicPr>
          <p:nvPr/>
        </p:nvPicPr>
        <p:blipFill>
          <a:blip r:embed="rId6">
            <a:extLst/>
          </a:blip>
          <a:stretch>
            <a:fillRect/>
          </a:stretch>
        </p:blipFill>
        <p:spPr>
          <a:xfrm>
            <a:off x="7548085" y="5540990"/>
            <a:ext cx="336472" cy="420649"/>
          </a:xfrm>
          <a:prstGeom prst="rect">
            <a:avLst/>
          </a:prstGeom>
          <a:ln w="12700">
            <a:miter lim="400000"/>
          </a:ln>
        </p:spPr>
      </p:pic>
      <p:sp>
        <p:nvSpPr>
          <p:cNvPr id="142" name="Text 14"/>
          <p:cNvSpPr txBox="1"/>
          <p:nvPr/>
        </p:nvSpPr>
        <p:spPr>
          <a:xfrm>
            <a:off x="8240792" y="5473660"/>
            <a:ext cx="3970626"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solidFill>
                  <a:srgbClr val="3D3838"/>
                </a:solidFill>
                <a:latin typeface="Montserrat Bold"/>
                <a:ea typeface="Montserrat Bold"/>
                <a:cs typeface="Montserrat Bold"/>
                <a:sym typeface="Montserrat Bold"/>
              </a:defRPr>
            </a:lvl1pPr>
          </a:lstStyle>
          <a:p>
            <a:pPr/>
            <a:r>
              <a:t>Sharpening and Normalization</a:t>
            </a:r>
          </a:p>
        </p:txBody>
      </p:sp>
      <p:sp>
        <p:nvSpPr>
          <p:cNvPr id="143" name="Text 15"/>
          <p:cNvSpPr txBox="1"/>
          <p:nvPr/>
        </p:nvSpPr>
        <p:spPr>
          <a:xfrm>
            <a:off x="8240792" y="5972293"/>
            <a:ext cx="5525930" cy="7184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Enhances edges and improves the clarity of characters.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ext 0"/>
          <p:cNvSpPr txBox="1"/>
          <p:nvPr/>
        </p:nvSpPr>
        <p:spPr>
          <a:xfrm>
            <a:off x="628293" y="494348"/>
            <a:ext cx="2824020" cy="49986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000"/>
              </a:lnSpc>
              <a:defRPr b="1" spc="-32" sz="3200">
                <a:latin typeface="Montserrat Bold"/>
                <a:ea typeface="Montserrat Bold"/>
                <a:cs typeface="Montserrat Bold"/>
                <a:sym typeface="Montserrat Bold"/>
              </a:defRPr>
            </a:lvl1pPr>
          </a:lstStyle>
          <a:p>
            <a:pPr/>
            <a:r>
              <a:t>Steps Involved</a:t>
            </a:r>
          </a:p>
        </p:txBody>
      </p:sp>
      <p:sp>
        <p:nvSpPr>
          <p:cNvPr id="146" name="Shape 1"/>
          <p:cNvSpPr/>
          <p:nvPr/>
        </p:nvSpPr>
        <p:spPr>
          <a:xfrm>
            <a:off x="7303769" y="1363266"/>
            <a:ext cx="22861" cy="6371988"/>
          </a:xfrm>
          <a:prstGeom prst="roundRect">
            <a:avLst>
              <a:gd name="adj" fmla="val 50000"/>
            </a:avLst>
          </a:prstGeom>
          <a:solidFill>
            <a:srgbClr val="D8D4D4"/>
          </a:solidFill>
          <a:ln w="12700">
            <a:miter lim="400000"/>
          </a:ln>
        </p:spPr>
        <p:txBody>
          <a:bodyPr lIns="45719" rIns="45719"/>
          <a:lstStyle/>
          <a:p>
            <a:pPr/>
          </a:p>
        </p:txBody>
      </p:sp>
      <p:sp>
        <p:nvSpPr>
          <p:cNvPr id="147" name="Shape 2"/>
          <p:cNvSpPr/>
          <p:nvPr/>
        </p:nvSpPr>
        <p:spPr>
          <a:xfrm>
            <a:off x="6597609" y="1755695"/>
            <a:ext cx="538521" cy="22861"/>
          </a:xfrm>
          <a:prstGeom prst="roundRect">
            <a:avLst>
              <a:gd name="adj" fmla="val 50000"/>
            </a:avLst>
          </a:prstGeom>
          <a:solidFill>
            <a:srgbClr val="D8D4D4"/>
          </a:solidFill>
          <a:ln w="12700">
            <a:miter lim="400000"/>
          </a:ln>
        </p:spPr>
        <p:txBody>
          <a:bodyPr lIns="45719" rIns="45719"/>
          <a:lstStyle/>
          <a:p>
            <a:pPr/>
          </a:p>
        </p:txBody>
      </p:sp>
      <p:sp>
        <p:nvSpPr>
          <p:cNvPr id="148" name="Shape 3"/>
          <p:cNvSpPr/>
          <p:nvPr/>
        </p:nvSpPr>
        <p:spPr>
          <a:xfrm>
            <a:off x="7113269" y="1565196"/>
            <a:ext cx="403861" cy="403861"/>
          </a:xfrm>
          <a:prstGeom prst="roundRect">
            <a:avLst>
              <a:gd name="adj" fmla="val 6667"/>
            </a:avLst>
          </a:prstGeom>
          <a:solidFill>
            <a:srgbClr val="F2EEEE"/>
          </a:solidFill>
          <a:ln w="12700">
            <a:miter lim="400000"/>
          </a:ln>
        </p:spPr>
        <p:txBody>
          <a:bodyPr lIns="45719" rIns="45719"/>
          <a:lstStyle/>
          <a:p>
            <a:pPr/>
          </a:p>
        </p:txBody>
      </p:sp>
      <p:sp>
        <p:nvSpPr>
          <p:cNvPr id="149" name="Text 4"/>
          <p:cNvSpPr txBox="1"/>
          <p:nvPr/>
        </p:nvSpPr>
        <p:spPr>
          <a:xfrm>
            <a:off x="7242956" y="1614190"/>
            <a:ext cx="144488" cy="2485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1</a:t>
            </a:r>
          </a:p>
        </p:txBody>
      </p:sp>
      <p:sp>
        <p:nvSpPr>
          <p:cNvPr id="150" name="Text 5"/>
          <p:cNvSpPr txBox="1"/>
          <p:nvPr/>
        </p:nvSpPr>
        <p:spPr>
          <a:xfrm>
            <a:off x="5296217" y="1542693"/>
            <a:ext cx="1121491"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000"/>
              </a:lnSpc>
              <a:defRPr b="1" spc="-16" sz="1600">
                <a:solidFill>
                  <a:srgbClr val="3D3838"/>
                </a:solidFill>
                <a:latin typeface="Montserrat Bold"/>
                <a:ea typeface="Montserrat Bold"/>
                <a:cs typeface="Montserrat Bold"/>
                <a:sym typeface="Montserrat Bold"/>
              </a:defRPr>
            </a:lvl1pPr>
          </a:lstStyle>
          <a:p>
            <a:pPr/>
            <a:r>
              <a:t>Load Image</a:t>
            </a:r>
          </a:p>
        </p:txBody>
      </p:sp>
      <p:sp>
        <p:nvSpPr>
          <p:cNvPr id="151" name="Text 6"/>
          <p:cNvSpPr txBox="1"/>
          <p:nvPr/>
        </p:nvSpPr>
        <p:spPr>
          <a:xfrm>
            <a:off x="3509593" y="1905237"/>
            <a:ext cx="2908115" cy="2542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D3838"/>
                </a:solidFill>
                <a:latin typeface="Source Sans Pro"/>
                <a:ea typeface="Source Sans Pro"/>
                <a:cs typeface="Source Sans Pro"/>
                <a:sym typeface="Source Sans Pro"/>
              </a:defRPr>
            </a:lvl1pPr>
          </a:lstStyle>
          <a:p>
            <a:pPr/>
            <a:r>
              <a:t>Read the image from the file system.</a:t>
            </a:r>
          </a:p>
        </p:txBody>
      </p:sp>
      <p:sp>
        <p:nvSpPr>
          <p:cNvPr id="152" name="Shape 7"/>
          <p:cNvSpPr/>
          <p:nvPr/>
        </p:nvSpPr>
        <p:spPr>
          <a:xfrm>
            <a:off x="7494269" y="2653070"/>
            <a:ext cx="538521" cy="22861"/>
          </a:xfrm>
          <a:prstGeom prst="roundRect">
            <a:avLst>
              <a:gd name="adj" fmla="val 50000"/>
            </a:avLst>
          </a:prstGeom>
          <a:solidFill>
            <a:srgbClr val="D8D4D4"/>
          </a:solidFill>
          <a:ln w="12700">
            <a:miter lim="400000"/>
          </a:ln>
        </p:spPr>
        <p:txBody>
          <a:bodyPr lIns="45719" rIns="45719"/>
          <a:lstStyle/>
          <a:p>
            <a:pPr/>
          </a:p>
        </p:txBody>
      </p:sp>
      <p:sp>
        <p:nvSpPr>
          <p:cNvPr id="153" name="Shape 8"/>
          <p:cNvSpPr/>
          <p:nvPr/>
        </p:nvSpPr>
        <p:spPr>
          <a:xfrm>
            <a:off x="7113269" y="2462570"/>
            <a:ext cx="403861" cy="403861"/>
          </a:xfrm>
          <a:prstGeom prst="roundRect">
            <a:avLst>
              <a:gd name="adj" fmla="val 6667"/>
            </a:avLst>
          </a:prstGeom>
          <a:solidFill>
            <a:srgbClr val="F2EEEE"/>
          </a:solidFill>
          <a:ln w="12700">
            <a:miter lim="400000"/>
          </a:ln>
        </p:spPr>
        <p:txBody>
          <a:bodyPr lIns="45719" rIns="45719"/>
          <a:lstStyle/>
          <a:p>
            <a:pPr/>
          </a:p>
        </p:txBody>
      </p:sp>
      <p:sp>
        <p:nvSpPr>
          <p:cNvPr id="154" name="Text 9"/>
          <p:cNvSpPr txBox="1"/>
          <p:nvPr/>
        </p:nvSpPr>
        <p:spPr>
          <a:xfrm>
            <a:off x="7242956" y="2511563"/>
            <a:ext cx="144488" cy="2485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2</a:t>
            </a:r>
          </a:p>
        </p:txBody>
      </p:sp>
      <p:sp>
        <p:nvSpPr>
          <p:cNvPr id="155" name="Text 10"/>
          <p:cNvSpPr txBox="1"/>
          <p:nvPr/>
        </p:nvSpPr>
        <p:spPr>
          <a:xfrm>
            <a:off x="8212693" y="2440066"/>
            <a:ext cx="2016165"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b="1" spc="-16" sz="1600">
                <a:solidFill>
                  <a:srgbClr val="3D3838"/>
                </a:solidFill>
                <a:latin typeface="Montserrat Bold"/>
                <a:ea typeface="Montserrat Bold"/>
                <a:cs typeface="Montserrat Bold"/>
                <a:sym typeface="Montserrat Bold"/>
              </a:defRPr>
            </a:lvl1pPr>
          </a:lstStyle>
          <a:p>
            <a:pPr/>
            <a:r>
              <a:t>Convert to Grayscale</a:t>
            </a:r>
          </a:p>
        </p:txBody>
      </p:sp>
      <p:sp>
        <p:nvSpPr>
          <p:cNvPr id="156" name="Text 11"/>
          <p:cNvSpPr txBox="1"/>
          <p:nvPr/>
        </p:nvSpPr>
        <p:spPr>
          <a:xfrm>
            <a:off x="8212693" y="2802612"/>
            <a:ext cx="4193084" cy="25425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400">
                <a:solidFill>
                  <a:srgbClr val="3D3838"/>
                </a:solidFill>
                <a:latin typeface="Source Sans Pro"/>
                <a:ea typeface="Source Sans Pro"/>
                <a:cs typeface="Source Sans Pro"/>
                <a:sym typeface="Source Sans Pro"/>
              </a:defRPr>
            </a:lvl1pPr>
          </a:lstStyle>
          <a:p>
            <a:pPr/>
            <a:r>
              <a:t>Convert the image to grayscale for better processing.</a:t>
            </a:r>
          </a:p>
        </p:txBody>
      </p:sp>
      <p:sp>
        <p:nvSpPr>
          <p:cNvPr id="157" name="Shape 12"/>
          <p:cNvSpPr/>
          <p:nvPr/>
        </p:nvSpPr>
        <p:spPr>
          <a:xfrm>
            <a:off x="6597609" y="3460789"/>
            <a:ext cx="538521" cy="22861"/>
          </a:xfrm>
          <a:prstGeom prst="roundRect">
            <a:avLst>
              <a:gd name="adj" fmla="val 50000"/>
            </a:avLst>
          </a:prstGeom>
          <a:solidFill>
            <a:srgbClr val="D8D4D4"/>
          </a:solidFill>
          <a:ln w="12700">
            <a:miter lim="400000"/>
          </a:ln>
        </p:spPr>
        <p:txBody>
          <a:bodyPr lIns="45719" rIns="45719"/>
          <a:lstStyle/>
          <a:p>
            <a:pPr/>
          </a:p>
        </p:txBody>
      </p:sp>
      <p:sp>
        <p:nvSpPr>
          <p:cNvPr id="158" name="Shape 13"/>
          <p:cNvSpPr/>
          <p:nvPr/>
        </p:nvSpPr>
        <p:spPr>
          <a:xfrm>
            <a:off x="7113269" y="3270289"/>
            <a:ext cx="403861" cy="403861"/>
          </a:xfrm>
          <a:prstGeom prst="roundRect">
            <a:avLst>
              <a:gd name="adj" fmla="val 6667"/>
            </a:avLst>
          </a:prstGeom>
          <a:solidFill>
            <a:srgbClr val="F2EEEE"/>
          </a:solidFill>
          <a:ln w="12700">
            <a:miter lim="400000"/>
          </a:ln>
        </p:spPr>
        <p:txBody>
          <a:bodyPr lIns="45719" rIns="45719"/>
          <a:lstStyle/>
          <a:p>
            <a:pPr/>
          </a:p>
        </p:txBody>
      </p:sp>
      <p:sp>
        <p:nvSpPr>
          <p:cNvPr id="159" name="Text 14"/>
          <p:cNvSpPr txBox="1"/>
          <p:nvPr/>
        </p:nvSpPr>
        <p:spPr>
          <a:xfrm>
            <a:off x="7242956" y="3319283"/>
            <a:ext cx="144488" cy="2485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3</a:t>
            </a:r>
          </a:p>
        </p:txBody>
      </p:sp>
      <p:sp>
        <p:nvSpPr>
          <p:cNvPr id="160" name="Text 15"/>
          <p:cNvSpPr txBox="1"/>
          <p:nvPr/>
        </p:nvSpPr>
        <p:spPr>
          <a:xfrm>
            <a:off x="5053770" y="3247787"/>
            <a:ext cx="1363938"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000"/>
              </a:lnSpc>
              <a:defRPr b="1" spc="-16" sz="1600">
                <a:solidFill>
                  <a:srgbClr val="3D3838"/>
                </a:solidFill>
                <a:latin typeface="Montserrat Bold"/>
                <a:ea typeface="Montserrat Bold"/>
                <a:cs typeface="Montserrat Bold"/>
                <a:sym typeface="Montserrat Bold"/>
              </a:defRPr>
            </a:lvl1pPr>
          </a:lstStyle>
          <a:p>
            <a:pPr/>
            <a:r>
              <a:t>Gaussian Blur</a:t>
            </a:r>
          </a:p>
        </p:txBody>
      </p:sp>
      <p:sp>
        <p:nvSpPr>
          <p:cNvPr id="161" name="Text 16"/>
          <p:cNvSpPr txBox="1"/>
          <p:nvPr/>
        </p:nvSpPr>
        <p:spPr>
          <a:xfrm>
            <a:off x="1502831" y="3610331"/>
            <a:ext cx="4914877" cy="2542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D3838"/>
                </a:solidFill>
                <a:latin typeface="Source Sans Pro"/>
                <a:ea typeface="Source Sans Pro"/>
                <a:cs typeface="Source Sans Pro"/>
                <a:sym typeface="Source Sans Pro"/>
              </a:defRPr>
            </a:lvl1pPr>
          </a:lstStyle>
          <a:p>
            <a:pPr/>
            <a:r>
              <a:t>Apply a Gaussian filter to reduce noise and smooth the image.</a:t>
            </a:r>
          </a:p>
        </p:txBody>
      </p:sp>
      <p:sp>
        <p:nvSpPr>
          <p:cNvPr id="162" name="Shape 17"/>
          <p:cNvSpPr/>
          <p:nvPr/>
        </p:nvSpPr>
        <p:spPr>
          <a:xfrm>
            <a:off x="7494269" y="4268509"/>
            <a:ext cx="538521" cy="22861"/>
          </a:xfrm>
          <a:prstGeom prst="roundRect">
            <a:avLst>
              <a:gd name="adj" fmla="val 50000"/>
            </a:avLst>
          </a:prstGeom>
          <a:solidFill>
            <a:srgbClr val="D8D4D4"/>
          </a:solidFill>
          <a:ln w="12700">
            <a:miter lim="400000"/>
          </a:ln>
        </p:spPr>
        <p:txBody>
          <a:bodyPr lIns="45719" rIns="45719"/>
          <a:lstStyle/>
          <a:p>
            <a:pPr/>
          </a:p>
        </p:txBody>
      </p:sp>
      <p:sp>
        <p:nvSpPr>
          <p:cNvPr id="163" name="Shape 18"/>
          <p:cNvSpPr/>
          <p:nvPr/>
        </p:nvSpPr>
        <p:spPr>
          <a:xfrm>
            <a:off x="7113269" y="4078009"/>
            <a:ext cx="403861" cy="403861"/>
          </a:xfrm>
          <a:prstGeom prst="roundRect">
            <a:avLst>
              <a:gd name="adj" fmla="val 6667"/>
            </a:avLst>
          </a:prstGeom>
          <a:solidFill>
            <a:srgbClr val="F2EEEE"/>
          </a:solidFill>
          <a:ln w="12700">
            <a:miter lim="400000"/>
          </a:ln>
        </p:spPr>
        <p:txBody>
          <a:bodyPr lIns="45719" rIns="45719"/>
          <a:lstStyle/>
          <a:p>
            <a:pPr/>
          </a:p>
        </p:txBody>
      </p:sp>
      <p:sp>
        <p:nvSpPr>
          <p:cNvPr id="164" name="Text 19"/>
          <p:cNvSpPr txBox="1"/>
          <p:nvPr/>
        </p:nvSpPr>
        <p:spPr>
          <a:xfrm>
            <a:off x="7242956" y="4127003"/>
            <a:ext cx="144488" cy="2485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4</a:t>
            </a:r>
          </a:p>
        </p:txBody>
      </p:sp>
      <p:sp>
        <p:nvSpPr>
          <p:cNvPr id="165" name="Text 20"/>
          <p:cNvSpPr txBox="1"/>
          <p:nvPr/>
        </p:nvSpPr>
        <p:spPr>
          <a:xfrm>
            <a:off x="8212693" y="4055507"/>
            <a:ext cx="1311149"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b="1" spc="-16" sz="1600">
                <a:solidFill>
                  <a:srgbClr val="3D3838"/>
                </a:solidFill>
                <a:latin typeface="Montserrat Bold"/>
                <a:ea typeface="Montserrat Bold"/>
                <a:cs typeface="Montserrat Bold"/>
                <a:sym typeface="Montserrat Bold"/>
              </a:defRPr>
            </a:lvl1pPr>
          </a:lstStyle>
          <a:p>
            <a:pPr/>
            <a:r>
              <a:t>Apply CLAHE</a:t>
            </a:r>
          </a:p>
        </p:txBody>
      </p:sp>
      <p:sp>
        <p:nvSpPr>
          <p:cNvPr id="166" name="Text 21"/>
          <p:cNvSpPr txBox="1"/>
          <p:nvPr/>
        </p:nvSpPr>
        <p:spPr>
          <a:xfrm>
            <a:off x="8212693" y="4418052"/>
            <a:ext cx="5789415" cy="5209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D3838"/>
                </a:solidFill>
                <a:latin typeface="Source Sans Pro"/>
                <a:ea typeface="Source Sans Pro"/>
                <a:cs typeface="Source Sans Pro"/>
                <a:sym typeface="Source Sans Pro"/>
              </a:defRPr>
            </a:lvl1pPr>
          </a:lstStyle>
          <a:p>
            <a:pPr/>
            <a:r>
              <a:t>Enhance contrast using the Contrast Limited Adaptive Histogram Equalization (CLAHE) method.</a:t>
            </a:r>
          </a:p>
        </p:txBody>
      </p:sp>
      <p:sp>
        <p:nvSpPr>
          <p:cNvPr id="167" name="Shape 22"/>
          <p:cNvSpPr/>
          <p:nvPr/>
        </p:nvSpPr>
        <p:spPr>
          <a:xfrm>
            <a:off x="6597609" y="5076230"/>
            <a:ext cx="538521" cy="22861"/>
          </a:xfrm>
          <a:prstGeom prst="roundRect">
            <a:avLst>
              <a:gd name="adj" fmla="val 50000"/>
            </a:avLst>
          </a:prstGeom>
          <a:solidFill>
            <a:srgbClr val="D8D4D4"/>
          </a:solidFill>
          <a:ln w="12700">
            <a:miter lim="400000"/>
          </a:ln>
        </p:spPr>
        <p:txBody>
          <a:bodyPr lIns="45719" rIns="45719"/>
          <a:lstStyle/>
          <a:p>
            <a:pPr/>
          </a:p>
        </p:txBody>
      </p:sp>
      <p:sp>
        <p:nvSpPr>
          <p:cNvPr id="168" name="Shape 23"/>
          <p:cNvSpPr/>
          <p:nvPr/>
        </p:nvSpPr>
        <p:spPr>
          <a:xfrm>
            <a:off x="7113269" y="4885730"/>
            <a:ext cx="403861" cy="403861"/>
          </a:xfrm>
          <a:prstGeom prst="roundRect">
            <a:avLst>
              <a:gd name="adj" fmla="val 6667"/>
            </a:avLst>
          </a:prstGeom>
          <a:solidFill>
            <a:srgbClr val="F2EEEE"/>
          </a:solidFill>
          <a:ln w="12700">
            <a:miter lim="400000"/>
          </a:ln>
        </p:spPr>
        <p:txBody>
          <a:bodyPr lIns="45719" rIns="45719"/>
          <a:lstStyle/>
          <a:p>
            <a:pPr/>
          </a:p>
        </p:txBody>
      </p:sp>
      <p:sp>
        <p:nvSpPr>
          <p:cNvPr id="169" name="Text 24"/>
          <p:cNvSpPr txBox="1"/>
          <p:nvPr/>
        </p:nvSpPr>
        <p:spPr>
          <a:xfrm>
            <a:off x="7242956" y="4934723"/>
            <a:ext cx="144488" cy="2485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5</a:t>
            </a:r>
          </a:p>
        </p:txBody>
      </p:sp>
      <p:sp>
        <p:nvSpPr>
          <p:cNvPr id="170" name="Text 25"/>
          <p:cNvSpPr txBox="1"/>
          <p:nvPr/>
        </p:nvSpPr>
        <p:spPr>
          <a:xfrm>
            <a:off x="4246213" y="4863227"/>
            <a:ext cx="2171495"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000"/>
              </a:lnSpc>
              <a:defRPr b="1" spc="-16" sz="1600">
                <a:solidFill>
                  <a:srgbClr val="3D3838"/>
                </a:solidFill>
                <a:latin typeface="Montserrat Bold"/>
                <a:ea typeface="Montserrat Bold"/>
                <a:cs typeface="Montserrat Bold"/>
                <a:sym typeface="Montserrat Bold"/>
              </a:defRPr>
            </a:lvl1pPr>
          </a:lstStyle>
          <a:p>
            <a:pPr/>
            <a:r>
              <a:t>Adaptive Thresholding</a:t>
            </a:r>
          </a:p>
        </p:txBody>
      </p:sp>
      <p:sp>
        <p:nvSpPr>
          <p:cNvPr id="171" name="Text 26"/>
          <p:cNvSpPr txBox="1"/>
          <p:nvPr/>
        </p:nvSpPr>
        <p:spPr>
          <a:xfrm>
            <a:off x="1977196" y="5225772"/>
            <a:ext cx="4440512" cy="25425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D3838"/>
                </a:solidFill>
                <a:latin typeface="Source Sans Pro"/>
                <a:ea typeface="Source Sans Pro"/>
                <a:cs typeface="Source Sans Pro"/>
                <a:sym typeface="Source Sans Pro"/>
              </a:defRPr>
            </a:lvl1pPr>
          </a:lstStyle>
          <a:p>
            <a:pPr/>
            <a:r>
              <a:t>Apply a threshold to each pixel to create a binary image.</a:t>
            </a:r>
          </a:p>
        </p:txBody>
      </p:sp>
      <p:sp>
        <p:nvSpPr>
          <p:cNvPr id="172" name="Shape 27"/>
          <p:cNvSpPr/>
          <p:nvPr/>
        </p:nvSpPr>
        <p:spPr>
          <a:xfrm>
            <a:off x="7494269" y="5883950"/>
            <a:ext cx="538521" cy="22861"/>
          </a:xfrm>
          <a:prstGeom prst="roundRect">
            <a:avLst>
              <a:gd name="adj" fmla="val 50000"/>
            </a:avLst>
          </a:prstGeom>
          <a:solidFill>
            <a:srgbClr val="D8D4D4"/>
          </a:solidFill>
          <a:ln w="12700">
            <a:miter lim="400000"/>
          </a:ln>
        </p:spPr>
        <p:txBody>
          <a:bodyPr lIns="45719" rIns="45719"/>
          <a:lstStyle/>
          <a:p>
            <a:pPr/>
          </a:p>
        </p:txBody>
      </p:sp>
      <p:sp>
        <p:nvSpPr>
          <p:cNvPr id="173" name="Shape 28"/>
          <p:cNvSpPr/>
          <p:nvPr/>
        </p:nvSpPr>
        <p:spPr>
          <a:xfrm>
            <a:off x="7113269" y="5693450"/>
            <a:ext cx="403861" cy="403861"/>
          </a:xfrm>
          <a:prstGeom prst="roundRect">
            <a:avLst>
              <a:gd name="adj" fmla="val 6667"/>
            </a:avLst>
          </a:prstGeom>
          <a:solidFill>
            <a:srgbClr val="F2EEEE"/>
          </a:solidFill>
          <a:ln w="12700">
            <a:miter lim="400000"/>
          </a:ln>
        </p:spPr>
        <p:txBody>
          <a:bodyPr lIns="45719" rIns="45719"/>
          <a:lstStyle/>
          <a:p>
            <a:pPr/>
          </a:p>
        </p:txBody>
      </p:sp>
      <p:sp>
        <p:nvSpPr>
          <p:cNvPr id="174" name="Text 29"/>
          <p:cNvSpPr txBox="1"/>
          <p:nvPr/>
        </p:nvSpPr>
        <p:spPr>
          <a:xfrm>
            <a:off x="7242956" y="5742444"/>
            <a:ext cx="144488" cy="2485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6</a:t>
            </a:r>
          </a:p>
        </p:txBody>
      </p:sp>
      <p:sp>
        <p:nvSpPr>
          <p:cNvPr id="175" name="Text 30"/>
          <p:cNvSpPr txBox="1"/>
          <p:nvPr/>
        </p:nvSpPr>
        <p:spPr>
          <a:xfrm>
            <a:off x="8212693" y="5670946"/>
            <a:ext cx="2270963"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b="1" spc="-16" sz="1600">
                <a:solidFill>
                  <a:srgbClr val="3D3838"/>
                </a:solidFill>
                <a:latin typeface="Montserrat Bold"/>
                <a:ea typeface="Montserrat Bold"/>
                <a:cs typeface="Montserrat Bold"/>
                <a:sym typeface="Montserrat Bold"/>
              </a:defRPr>
            </a:lvl1pPr>
          </a:lstStyle>
          <a:p>
            <a:pPr/>
            <a:r>
              <a:t>Morphological Cleaning</a:t>
            </a:r>
          </a:p>
        </p:txBody>
      </p:sp>
      <p:sp>
        <p:nvSpPr>
          <p:cNvPr id="176" name="Text 31"/>
          <p:cNvSpPr txBox="1"/>
          <p:nvPr/>
        </p:nvSpPr>
        <p:spPr>
          <a:xfrm>
            <a:off x="8212693" y="6033492"/>
            <a:ext cx="4459350" cy="25425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400">
                <a:solidFill>
                  <a:srgbClr val="3D3838"/>
                </a:solidFill>
                <a:latin typeface="Source Sans Pro"/>
                <a:ea typeface="Source Sans Pro"/>
                <a:cs typeface="Source Sans Pro"/>
                <a:sym typeface="Source Sans Pro"/>
              </a:defRPr>
            </a:lvl1pPr>
          </a:lstStyle>
          <a:p>
            <a:pPr/>
            <a:r>
              <a:t>Remove small artifacts and irregularities from the image.</a:t>
            </a:r>
          </a:p>
        </p:txBody>
      </p:sp>
      <p:sp>
        <p:nvSpPr>
          <p:cNvPr id="177" name="Shape 32"/>
          <p:cNvSpPr/>
          <p:nvPr/>
        </p:nvSpPr>
        <p:spPr>
          <a:xfrm>
            <a:off x="6597609" y="6691669"/>
            <a:ext cx="538521" cy="22861"/>
          </a:xfrm>
          <a:prstGeom prst="roundRect">
            <a:avLst>
              <a:gd name="adj" fmla="val 50000"/>
            </a:avLst>
          </a:prstGeom>
          <a:solidFill>
            <a:srgbClr val="D8D4D4"/>
          </a:solidFill>
          <a:ln w="12700">
            <a:miter lim="400000"/>
          </a:ln>
        </p:spPr>
        <p:txBody>
          <a:bodyPr lIns="45719" rIns="45719"/>
          <a:lstStyle/>
          <a:p>
            <a:pPr/>
          </a:p>
        </p:txBody>
      </p:sp>
      <p:sp>
        <p:nvSpPr>
          <p:cNvPr id="178" name="Shape 33"/>
          <p:cNvSpPr/>
          <p:nvPr/>
        </p:nvSpPr>
        <p:spPr>
          <a:xfrm>
            <a:off x="7113269" y="6501169"/>
            <a:ext cx="403861" cy="403861"/>
          </a:xfrm>
          <a:prstGeom prst="roundRect">
            <a:avLst>
              <a:gd name="adj" fmla="val 6667"/>
            </a:avLst>
          </a:prstGeom>
          <a:solidFill>
            <a:srgbClr val="F2EEEE"/>
          </a:solidFill>
          <a:ln w="12700">
            <a:miter lim="400000"/>
          </a:ln>
        </p:spPr>
        <p:txBody>
          <a:bodyPr lIns="45719" rIns="45719"/>
          <a:lstStyle/>
          <a:p>
            <a:pPr/>
          </a:p>
        </p:txBody>
      </p:sp>
      <p:sp>
        <p:nvSpPr>
          <p:cNvPr id="179" name="Text 34"/>
          <p:cNvSpPr txBox="1"/>
          <p:nvPr/>
        </p:nvSpPr>
        <p:spPr>
          <a:xfrm>
            <a:off x="7242956" y="6550163"/>
            <a:ext cx="144488" cy="2485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b="1" spc="-19" sz="1900">
                <a:solidFill>
                  <a:srgbClr val="3D3838"/>
                </a:solidFill>
                <a:latin typeface="Montserrat Bold"/>
                <a:ea typeface="Montserrat Bold"/>
                <a:cs typeface="Montserrat Bold"/>
                <a:sym typeface="Montserrat Bold"/>
              </a:defRPr>
            </a:lvl1pPr>
          </a:lstStyle>
          <a:p>
            <a:pPr/>
            <a:r>
              <a:t>7</a:t>
            </a:r>
          </a:p>
        </p:txBody>
      </p:sp>
      <p:sp>
        <p:nvSpPr>
          <p:cNvPr id="180" name="Text 35"/>
          <p:cNvSpPr txBox="1"/>
          <p:nvPr/>
        </p:nvSpPr>
        <p:spPr>
          <a:xfrm>
            <a:off x="3736963" y="6478666"/>
            <a:ext cx="2680745"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000"/>
              </a:lnSpc>
              <a:defRPr b="1" spc="-16" sz="1600">
                <a:solidFill>
                  <a:srgbClr val="3D3838"/>
                </a:solidFill>
                <a:latin typeface="Montserrat Bold"/>
                <a:ea typeface="Montserrat Bold"/>
                <a:cs typeface="Montserrat Bold"/>
                <a:sym typeface="Montserrat Bold"/>
              </a:defRPr>
            </a:lvl1pPr>
          </a:lstStyle>
          <a:p>
            <a:pPr/>
            <a:r>
              <a:t>Sharpening &amp; Normalization</a:t>
            </a:r>
          </a:p>
        </p:txBody>
      </p:sp>
      <p:sp>
        <p:nvSpPr>
          <p:cNvPr id="181" name="Text 36"/>
          <p:cNvSpPr txBox="1"/>
          <p:nvPr/>
        </p:nvSpPr>
        <p:spPr>
          <a:xfrm>
            <a:off x="982541" y="6841211"/>
            <a:ext cx="5435167" cy="2542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2100"/>
              </a:lnSpc>
              <a:defRPr sz="1400">
                <a:solidFill>
                  <a:srgbClr val="3D3838"/>
                </a:solidFill>
                <a:latin typeface="Source Sans Pro"/>
                <a:ea typeface="Source Sans Pro"/>
                <a:cs typeface="Source Sans Pro"/>
                <a:sym typeface="Source Sans Pro"/>
              </a:defRPr>
            </a:lvl1pPr>
          </a:lstStyle>
          <a:p>
            <a:pPr/>
            <a:r>
              <a:t>Sharpen edges and normalize the image to improve character clarity.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Text 0"/>
          <p:cNvSpPr txBox="1"/>
          <p:nvPr/>
        </p:nvSpPr>
        <p:spPr>
          <a:xfrm>
            <a:off x="514882" y="679628"/>
            <a:ext cx="5108847" cy="6873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500"/>
              </a:lnSpc>
              <a:defRPr b="1" spc="-44" sz="4400">
                <a:latin typeface="Montserrat Bold"/>
                <a:ea typeface="Montserrat Bold"/>
                <a:cs typeface="Montserrat Bold"/>
                <a:sym typeface="Montserrat Bold"/>
              </a:defRPr>
            </a:lvl1pPr>
          </a:lstStyle>
          <a:p>
            <a:pPr/>
            <a:r>
              <a:t>Histogram Analysis</a:t>
            </a:r>
          </a:p>
        </p:txBody>
      </p:sp>
      <p:sp>
        <p:nvSpPr>
          <p:cNvPr id="184" name="Text 1"/>
          <p:cNvSpPr txBox="1"/>
          <p:nvPr/>
        </p:nvSpPr>
        <p:spPr>
          <a:xfrm>
            <a:off x="548112" y="1516051"/>
            <a:ext cx="2434100" cy="338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latin typeface="Montserrat Bold"/>
                <a:ea typeface="Montserrat Bold"/>
                <a:cs typeface="Montserrat Bold"/>
                <a:sym typeface="Montserrat Bold"/>
              </a:defRPr>
            </a:lvl1pPr>
          </a:lstStyle>
          <a:p>
            <a:pPr/>
            <a:r>
              <a:t>Before Processing</a:t>
            </a:r>
          </a:p>
        </p:txBody>
      </p:sp>
      <p:sp>
        <p:nvSpPr>
          <p:cNvPr id="185" name="Text 2"/>
          <p:cNvSpPr txBox="1"/>
          <p:nvPr/>
        </p:nvSpPr>
        <p:spPr>
          <a:xfrm>
            <a:off x="498266" y="2003739"/>
            <a:ext cx="6150295" cy="7184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Original image histogram shows low contrast and spread of pixel values, indicative of degraded quality.</a:t>
            </a:r>
          </a:p>
        </p:txBody>
      </p:sp>
      <p:sp>
        <p:nvSpPr>
          <p:cNvPr id="186" name="Text 3"/>
          <p:cNvSpPr txBox="1"/>
          <p:nvPr/>
        </p:nvSpPr>
        <p:spPr>
          <a:xfrm>
            <a:off x="7923000" y="1516051"/>
            <a:ext cx="2203879" cy="3385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pc="-22" sz="2200">
                <a:latin typeface="Montserrat Bold"/>
                <a:ea typeface="Montserrat Bold"/>
                <a:cs typeface="Montserrat Bold"/>
                <a:sym typeface="Montserrat Bold"/>
              </a:defRPr>
            </a:lvl1pPr>
          </a:lstStyle>
          <a:p>
            <a:pPr/>
            <a:r>
              <a:t>After Processing</a:t>
            </a:r>
          </a:p>
        </p:txBody>
      </p:sp>
      <p:sp>
        <p:nvSpPr>
          <p:cNvPr id="187" name="Text 4"/>
          <p:cNvSpPr txBox="1"/>
          <p:nvPr/>
        </p:nvSpPr>
        <p:spPr>
          <a:xfrm>
            <a:off x="7574084" y="2013817"/>
            <a:ext cx="6150294" cy="10867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Enhanced image histogram shows a wider distribution of pixel values, resulting in higher contrast and better readability.</a:t>
            </a:r>
          </a:p>
        </p:txBody>
      </p:sp>
      <p:pic>
        <p:nvPicPr>
          <p:cNvPr id="188" name="Screenshot 2025-04-21 at 2.40.31 AM.png" descr="Screenshot 2025-04-21 at 2.40.31 AM.png"/>
          <p:cNvPicPr>
            <a:picLocks noChangeAspect="1"/>
          </p:cNvPicPr>
          <p:nvPr/>
        </p:nvPicPr>
        <p:blipFill>
          <a:blip r:embed="rId2">
            <a:extLst/>
          </a:blip>
          <a:stretch>
            <a:fillRect/>
          </a:stretch>
        </p:blipFill>
        <p:spPr>
          <a:xfrm>
            <a:off x="2367772" y="3556946"/>
            <a:ext cx="9894856" cy="4067565"/>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ext 0"/>
          <p:cNvSpPr txBox="1"/>
          <p:nvPr/>
        </p:nvSpPr>
        <p:spPr>
          <a:xfrm>
            <a:off x="238202" y="415032"/>
            <a:ext cx="9018756" cy="6873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500"/>
              </a:lnSpc>
              <a:defRPr b="1" spc="-44" sz="4400">
                <a:latin typeface="Montserrat Bold"/>
                <a:ea typeface="Montserrat Bold"/>
                <a:cs typeface="Montserrat Bold"/>
                <a:sym typeface="Montserrat Bold"/>
              </a:defRPr>
            </a:lvl1pPr>
          </a:lstStyle>
          <a:p>
            <a:pPr/>
            <a:r>
              <a:t>Peak Signal-to-Noise Ratio (PSNR)</a:t>
            </a:r>
          </a:p>
        </p:txBody>
      </p:sp>
      <p:sp>
        <p:nvSpPr>
          <p:cNvPr id="191" name="Text 1"/>
          <p:cNvSpPr txBox="1"/>
          <p:nvPr/>
        </p:nvSpPr>
        <p:spPr>
          <a:xfrm>
            <a:off x="337729" y="1344296"/>
            <a:ext cx="12902804" cy="7184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PSNR is a measure of the quality of reconstructed images compared to the original image. Higher PSNR values indicate a better quality image with less noise and distortion.</a:t>
            </a:r>
          </a:p>
        </p:txBody>
      </p:sp>
      <p:pic>
        <p:nvPicPr>
          <p:cNvPr id="192" name="Screenshot 2025-04-21 at 2.41.45 AM.png" descr="Screenshot 2025-04-21 at 2.41.45 AM.png"/>
          <p:cNvPicPr>
            <a:picLocks noChangeAspect="1"/>
          </p:cNvPicPr>
          <p:nvPr/>
        </p:nvPicPr>
        <p:blipFill>
          <a:blip r:embed="rId2">
            <a:extLst/>
          </a:blip>
          <a:stretch>
            <a:fillRect/>
          </a:stretch>
        </p:blipFill>
        <p:spPr>
          <a:xfrm>
            <a:off x="3956549" y="2744859"/>
            <a:ext cx="6101740" cy="4246057"/>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0"/>
          <p:cNvSpPr txBox="1"/>
          <p:nvPr/>
        </p:nvSpPr>
        <p:spPr>
          <a:xfrm>
            <a:off x="705621" y="597044"/>
            <a:ext cx="7416405" cy="13858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pc="-44" sz="4400">
                <a:latin typeface="Montserrat Bold"/>
                <a:ea typeface="Montserrat Bold"/>
                <a:cs typeface="Montserrat Bold"/>
                <a:sym typeface="Montserrat Bold"/>
              </a:defRPr>
            </a:lvl1pPr>
          </a:lstStyle>
          <a:p>
            <a:pPr/>
            <a:r>
              <a:t>Structural Similarity Index (SSIM)</a:t>
            </a:r>
          </a:p>
        </p:txBody>
      </p:sp>
      <p:sp>
        <p:nvSpPr>
          <p:cNvPr id="195" name="Text 1"/>
          <p:cNvSpPr txBox="1"/>
          <p:nvPr/>
        </p:nvSpPr>
        <p:spPr>
          <a:xfrm>
            <a:off x="705621" y="2327112"/>
            <a:ext cx="7416405" cy="14550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SSIM evaluates the structural similarity between two images, taking into account luminance, contrast, and structure. An SSIM value close to 1 indicates high similarity between the enhanced and original images, signifying successful preservation of structural information.</a:t>
            </a:r>
          </a:p>
        </p:txBody>
      </p:sp>
      <p:pic>
        <p:nvPicPr>
          <p:cNvPr id="196" name="Screenshot 2025-04-21 at 2.43.46 AM.png" descr="Screenshot 2025-04-21 at 2.43.46 AM.png"/>
          <p:cNvPicPr>
            <a:picLocks noChangeAspect="1"/>
          </p:cNvPicPr>
          <p:nvPr/>
        </p:nvPicPr>
        <p:blipFill>
          <a:blip r:embed="rId2">
            <a:extLst/>
          </a:blip>
          <a:stretch>
            <a:fillRect/>
          </a:stretch>
        </p:blipFill>
        <p:spPr>
          <a:xfrm>
            <a:off x="8319427" y="776731"/>
            <a:ext cx="5872766" cy="6473700"/>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ext 0"/>
          <p:cNvSpPr txBox="1"/>
          <p:nvPr/>
        </p:nvSpPr>
        <p:spPr>
          <a:xfrm>
            <a:off x="295074" y="469082"/>
            <a:ext cx="7416404" cy="13858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pc="-44" sz="4400">
                <a:latin typeface="Montserrat Bold"/>
                <a:ea typeface="Montserrat Bold"/>
                <a:cs typeface="Montserrat Bold"/>
                <a:sym typeface="Montserrat Bold"/>
              </a:defRPr>
            </a:lvl1pPr>
          </a:lstStyle>
          <a:p>
            <a:pPr/>
            <a:r>
              <a:t>Entropy: Information Content</a:t>
            </a:r>
          </a:p>
        </p:txBody>
      </p:sp>
      <p:sp>
        <p:nvSpPr>
          <p:cNvPr id="199" name="Text 1"/>
          <p:cNvSpPr txBox="1"/>
          <p:nvPr/>
        </p:nvSpPr>
        <p:spPr>
          <a:xfrm>
            <a:off x="295074" y="2170713"/>
            <a:ext cx="7416404" cy="14550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Entropy measures the randomness or complexity of an image. Higher entropy values indicate a greater amount of information contained within the image, demonstrating the effectiveness of our approach in preserving and enhancing details.</a:t>
            </a:r>
          </a:p>
        </p:txBody>
      </p:sp>
      <p:pic>
        <p:nvPicPr>
          <p:cNvPr id="200" name="Screenshot 2025-04-21 at 2.44.32 AM.png" descr="Screenshot 2025-04-21 at 2.44.32 AM.png"/>
          <p:cNvPicPr>
            <a:picLocks noChangeAspect="1"/>
          </p:cNvPicPr>
          <p:nvPr/>
        </p:nvPicPr>
        <p:blipFill>
          <a:blip r:embed="rId2">
            <a:extLst/>
          </a:blip>
          <a:stretch>
            <a:fillRect/>
          </a:stretch>
        </p:blipFill>
        <p:spPr>
          <a:xfrm>
            <a:off x="7726429" y="1064390"/>
            <a:ext cx="6266417" cy="6622672"/>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Text 0"/>
          <p:cNvSpPr txBox="1"/>
          <p:nvPr/>
        </p:nvSpPr>
        <p:spPr>
          <a:xfrm>
            <a:off x="7302809" y="1734798"/>
            <a:ext cx="7416404" cy="13858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pc="-44" sz="4400">
                <a:latin typeface="Montserrat Bold"/>
                <a:ea typeface="Montserrat Bold"/>
                <a:cs typeface="Montserrat Bold"/>
                <a:sym typeface="Montserrat Bold"/>
              </a:defRPr>
            </a:lvl1pPr>
          </a:lstStyle>
          <a:p>
            <a:pPr/>
            <a:r>
              <a:t>Edge Detection: Character Recognition</a:t>
            </a:r>
          </a:p>
        </p:txBody>
      </p:sp>
      <p:sp>
        <p:nvSpPr>
          <p:cNvPr id="203" name="Text 1"/>
          <p:cNvSpPr txBox="1"/>
          <p:nvPr/>
        </p:nvSpPr>
        <p:spPr>
          <a:xfrm>
            <a:off x="7302809" y="3663918"/>
            <a:ext cx="7416404" cy="14550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Edge detection is a crucial step in character recognition. By highlighting edges, we can effectively segment characters from the background, enabling accurate recognition and transcription of the text.</a:t>
            </a:r>
          </a:p>
        </p:txBody>
      </p:sp>
      <p:pic>
        <p:nvPicPr>
          <p:cNvPr id="204" name="Screenshot 2025-04-21 at 2.45.30 AM.png" descr="Screenshot 2025-04-21 at 2.45.30 AM.png"/>
          <p:cNvPicPr>
            <a:picLocks noChangeAspect="1"/>
          </p:cNvPicPr>
          <p:nvPr/>
        </p:nvPicPr>
        <p:blipFill>
          <a:blip r:embed="rId2">
            <a:extLst/>
          </a:blip>
          <a:stretch>
            <a:fillRect/>
          </a:stretch>
        </p:blipFill>
        <p:spPr>
          <a:xfrm>
            <a:off x="329442" y="1782918"/>
            <a:ext cx="6489403" cy="42434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Text 0"/>
          <p:cNvSpPr txBox="1"/>
          <p:nvPr/>
        </p:nvSpPr>
        <p:spPr>
          <a:xfrm>
            <a:off x="380383" y="770484"/>
            <a:ext cx="8651629" cy="6873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500"/>
              </a:lnSpc>
              <a:defRPr b="1" spc="-44" sz="4400">
                <a:latin typeface="Montserrat Bold"/>
                <a:ea typeface="Montserrat Bold"/>
                <a:cs typeface="Montserrat Bold"/>
                <a:sym typeface="Montserrat Bold"/>
              </a:defRPr>
            </a:lvl1pPr>
          </a:lstStyle>
          <a:p>
            <a:pPr/>
            <a:r>
              <a:t>Contrast Improvement Index (CII)</a:t>
            </a:r>
          </a:p>
        </p:txBody>
      </p:sp>
      <p:sp>
        <p:nvSpPr>
          <p:cNvPr id="207" name="Text 1"/>
          <p:cNvSpPr txBox="1"/>
          <p:nvPr/>
        </p:nvSpPr>
        <p:spPr>
          <a:xfrm>
            <a:off x="465691" y="1827710"/>
            <a:ext cx="12902804" cy="7184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1900">
                <a:solidFill>
                  <a:srgbClr val="3D3838"/>
                </a:solidFill>
                <a:latin typeface="Source Sans Pro"/>
                <a:ea typeface="Source Sans Pro"/>
                <a:cs typeface="Source Sans Pro"/>
                <a:sym typeface="Source Sans Pro"/>
              </a:defRPr>
            </a:lvl1pPr>
          </a:lstStyle>
          <a:p>
            <a:pPr/>
            <a:r>
              <a:t>CII quantifies the improvement in contrast achieved by our image processing methods. Higher CII values indicate a greater degree of contrast enhancement, leading to more readable text.</a:t>
            </a:r>
          </a:p>
        </p:txBody>
      </p:sp>
      <p:pic>
        <p:nvPicPr>
          <p:cNvPr id="208" name="Screenshot 2025-04-21 at 2.46.47 AM.png" descr="Screenshot 2025-04-21 at 2.46.47 AM.png"/>
          <p:cNvPicPr>
            <a:picLocks noChangeAspect="1"/>
          </p:cNvPicPr>
          <p:nvPr/>
        </p:nvPicPr>
        <p:blipFill>
          <a:blip r:embed="rId2">
            <a:extLst/>
          </a:blip>
          <a:stretch>
            <a:fillRect/>
          </a:stretch>
        </p:blipFill>
        <p:spPr>
          <a:xfrm>
            <a:off x="4815959" y="2783577"/>
            <a:ext cx="4202269" cy="5234405"/>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